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E326D-4220-E4BE-C842-9A2A41B04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92FAFC-D6FD-4C40-06B2-978EE0AAE7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E6894-E415-CD9C-89E6-276B70CB1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27426-7C6D-4089-B048-90B02662E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A285F-7C34-4A4D-5847-4A3534F25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1AC28-11E4-19A5-B8C4-2B275F20E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780A5-94C9-4EFB-86E5-BECFCA29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079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2BC34-183F-7EC2-03A0-7A063DDCB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5AD75-9C35-FD39-1340-7BE1201EE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DED7A-3F7F-C339-395A-89B4362BA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27426-7C6D-4089-B048-90B02662E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C0941-4CAD-052C-A903-36C0393B8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FA156-2F73-5768-58FF-8FFEA1FC0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780A5-94C9-4EFB-86E5-BECFCA29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35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56977-2A1C-1E82-4376-D88AB92F8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31777-01C0-7B84-348F-09FA76748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19360-E683-B62F-7A74-C3796263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27426-7C6D-4089-B048-90B02662E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9B9C7-FD7F-7310-6C87-F01F4B772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B49FC-D681-F60A-63B0-0B4D1AC2A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780A5-94C9-4EFB-86E5-BECFCA29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10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2AC18-CBEB-88C5-BA34-C42F507DA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0BEF9-E5A4-C85F-BE2C-8714F6D02A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3F3CC-DCB8-7CD1-7D3F-122C47591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0F07F-912E-98AC-FF65-9BEBE8BA3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27426-7C6D-4089-B048-90B02662E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6EA81-7F85-1CE9-9DB4-AE3732D7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A2988-7376-949E-F592-31F3873FC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780A5-94C9-4EFB-86E5-BECFCA29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105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8BBB2-B88A-E3AD-4417-D0E9210AD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11C98-631D-FCB3-1C4C-5AD76BE18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C3A089-442D-8036-6CEE-5C33AA722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36A9F4-49E6-5C3F-864E-5D2A15461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CCF1FE-86FC-405F-7F94-6DEBE8E7C8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FB9C66-6313-6B95-ED39-4D6045555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27426-7C6D-4089-B048-90B02662E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B01F06-3037-9287-D073-13201464F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EE4137-4C91-C94D-1200-29313183D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780A5-94C9-4EFB-86E5-BECFCA29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111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71308-0294-263E-3B38-EA0D8C982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503514-20E1-D4E2-4A08-2B87FF2FA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27426-7C6D-4089-B048-90B02662E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0FCF4F-5FC3-9E36-25E1-0CADBA77E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50C06-843B-2557-D119-A62B5D1B5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780A5-94C9-4EFB-86E5-BECFCA29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583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74E9AA-49F6-1759-142F-D8367435B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27426-7C6D-4089-B048-90B02662E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E3F6EF-7C93-4480-EBEA-FEE02069F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5A000-0416-1C4F-D3A6-CE8092DF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780A5-94C9-4EFB-86E5-BECFCA29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866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34EDE-6520-00BC-C572-C9F370BE2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9913A-E220-6FB1-9A7A-1AE726479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D96-55EB-4F32-5E22-9A00E4163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6DBDC-FC42-C04D-FB61-32D8BC825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27426-7C6D-4089-B048-90B02662E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B7CCB-3E07-A67B-FF51-442E96E26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382A9-3D65-0187-88BC-4E53E2545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780A5-94C9-4EFB-86E5-BECFCA29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020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7EA49-2C60-67BF-5606-2C8EB80DE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FF5801-E5D8-E689-9B60-D0DB150C2A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B0A316-DAB4-5738-D642-C00736B5D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79AAB-CB54-A8F1-829B-72BD97B94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27426-7C6D-4089-B048-90B02662E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CD344-AA86-6DB8-F894-8C829B4A3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69759-2EB5-ED5B-24CE-01C8658F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780A5-94C9-4EFB-86E5-BECFCA29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47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721A2-5BBA-A47D-0435-FBDD427E7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BCCF6-51EA-ED39-CB07-510E51850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F6057-B15A-B21B-F4CC-56121F409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27426-7C6D-4089-B048-90B02662E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D0876-B6F5-3E29-F829-3E87F7647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B1B45-966D-2FB3-F77F-4B06518CB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780A5-94C9-4EFB-86E5-BECFCA29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93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4F8975-05E5-6DCF-B310-5A3FDF2CD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BEB517-D0EA-7E71-9397-7B80BC837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1DFC5-4D14-D480-31D2-6459BF917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27426-7C6D-4089-B048-90B02662E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A46A-D846-96F4-A582-C598059B8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DFB41-180A-8D7D-F8AC-B7EA9E117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780A5-94C9-4EFB-86E5-BECFCA29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232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188FA8-6866-C4EE-DF33-4B59FC0A7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FCFEB-2D7B-2ABB-E62B-70CAB721C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0EF6B-2996-CCE1-E8DE-AD3261513C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27426-7C6D-4089-B048-90B02662E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ECC89-23BE-DB1D-5658-0D495ECAE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45CD0-687E-58C2-3D67-447D9CB1A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780A5-94C9-4EFB-86E5-BECFCA295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338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448D54-DB0C-3552-8606-FE9C3B7B0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Bahnschrift Light" panose="020B0502040204020203" pitchFamily="34" charset="0"/>
              </a:rPr>
              <a:t>Task 1: Data Cleaning &amp; Preparation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62068A-DD8B-34A9-A8C5-BFDECEB4E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343"/>
            <a:ext cx="10515600" cy="4685620"/>
          </a:xfrm>
        </p:spPr>
        <p:txBody>
          <a:bodyPr>
            <a:normAutofit/>
          </a:bodyPr>
          <a:lstStyle/>
          <a:p>
            <a:r>
              <a:rPr lang="en-US" sz="2400" dirty="0"/>
              <a:t>There was no duplicate values detected in </a:t>
            </a:r>
            <a:r>
              <a:rPr lang="en-US" sz="2400" b="1" dirty="0" err="1"/>
              <a:t>Order_ID</a:t>
            </a:r>
            <a:r>
              <a:rPr lang="en-US" sz="2400" b="1" dirty="0"/>
              <a:t> </a:t>
            </a:r>
            <a:r>
              <a:rPr lang="en-US" sz="2400" dirty="0"/>
              <a:t>or </a:t>
            </a:r>
            <a:r>
              <a:rPr lang="en-US" sz="2400" b="1" dirty="0" err="1"/>
              <a:t>Shipment_ID</a:t>
            </a:r>
            <a:r>
              <a:rPr lang="en-US" sz="2400" b="1" dirty="0"/>
              <a:t> </a:t>
            </a:r>
            <a:r>
              <a:rPr lang="en-US" sz="2400" dirty="0"/>
              <a:t>records.</a:t>
            </a:r>
          </a:p>
          <a:p>
            <a:r>
              <a:rPr lang="en-US" sz="2400" dirty="0"/>
              <a:t>There was no missing or null values in </a:t>
            </a:r>
            <a:r>
              <a:rPr lang="en-US" sz="2400" b="1" dirty="0" err="1"/>
              <a:t>Delay_Hours</a:t>
            </a:r>
            <a:r>
              <a:rPr lang="en-US" sz="2400" b="1" dirty="0"/>
              <a:t> </a:t>
            </a:r>
            <a:r>
              <a:rPr lang="en-US" sz="2400" dirty="0"/>
              <a:t>in the Shipments Table.</a:t>
            </a:r>
          </a:p>
          <a:p>
            <a:r>
              <a:rPr lang="en-US" sz="2400" dirty="0"/>
              <a:t>Converting all date columns (</a:t>
            </a:r>
            <a:r>
              <a:rPr lang="en-US" sz="2400" b="1" dirty="0" err="1"/>
              <a:t>Order_Date</a:t>
            </a:r>
            <a:r>
              <a:rPr lang="en-US" sz="2400" dirty="0"/>
              <a:t>, </a:t>
            </a:r>
            <a:r>
              <a:rPr lang="en-US" sz="2400" b="1" dirty="0" err="1"/>
              <a:t>Pickup_Date</a:t>
            </a:r>
            <a:r>
              <a:rPr lang="en-US" sz="2400" dirty="0"/>
              <a:t>, </a:t>
            </a:r>
            <a:r>
              <a:rPr lang="en-US" sz="2400" b="1" dirty="0" err="1"/>
              <a:t>Delivery_Date</a:t>
            </a:r>
            <a:r>
              <a:rPr lang="en-US" sz="2400" dirty="0"/>
              <a:t>) into YYYY-MM-DD HH:MM:SS format using SQL date functions as given below.</a:t>
            </a:r>
          </a:p>
          <a:p>
            <a:endParaRPr lang="en-US" sz="2400" dirty="0"/>
          </a:p>
          <a:p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1D7C68-BD2E-9585-5117-E9B610C28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308" y="3598231"/>
            <a:ext cx="9343406" cy="21711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78CFAA-F2D7-0C1D-5CFC-B673E9BB52E5}"/>
              </a:ext>
            </a:extLst>
          </p:cNvPr>
          <p:cNvSpPr txBox="1"/>
          <p:nvPr/>
        </p:nvSpPr>
        <p:spPr>
          <a:xfrm>
            <a:off x="130629" y="130629"/>
            <a:ext cx="11462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VIDEO LINK: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https://drive.google.com/file/d/1bUcTm4tl6kOdAvBX0ujmZt2jdV3wspZO/view?usp=sharing</a:t>
            </a:r>
          </a:p>
        </p:txBody>
      </p:sp>
    </p:spTree>
    <p:extLst>
      <p:ext uri="{BB962C8B-B14F-4D97-AF65-F5344CB8AC3E}">
        <p14:creationId xmlns:p14="http://schemas.microsoft.com/office/powerpoint/2010/main" val="1723881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FD9CDDC-358F-9D80-3E5D-8A0382D23A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948" y="251976"/>
            <a:ext cx="3140081" cy="1097853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37BD71-8B14-77CA-0898-BD8AC445EE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029" y="251975"/>
            <a:ext cx="1763485" cy="10978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8BF1F05-EA1A-FDE6-1FF1-FBBE2DCF0B5A}"/>
              </a:ext>
            </a:extLst>
          </p:cNvPr>
          <p:cNvSpPr txBox="1"/>
          <p:nvPr/>
        </p:nvSpPr>
        <p:spPr>
          <a:xfrm>
            <a:off x="571948" y="1589314"/>
            <a:ext cx="111737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Validated referential integrity between Orders, Routes, Warehouses, and Shipments.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CD429C7-5878-632B-2319-6D64EBB685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947" y="2103570"/>
            <a:ext cx="8310795" cy="350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84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D2128-426A-02A4-519F-46F97F8CA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2: Delivery Delay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F678D-C6F1-BAB2-FA0C-83F0251BE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Calculated delivery delay (in hours) for each shipment like </a:t>
            </a:r>
            <a:r>
              <a:rPr lang="en-US" b="1" dirty="0" err="1"/>
              <a:t>Delivery_Date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en-US" b="1" dirty="0" err="1"/>
              <a:t>Pickup_Date</a:t>
            </a:r>
            <a:r>
              <a:rPr lang="en-US" b="1" dirty="0"/>
              <a:t> </a:t>
            </a:r>
            <a:r>
              <a:rPr lang="en-US" dirty="0"/>
              <a:t>are already inserted into table.</a:t>
            </a:r>
          </a:p>
          <a:p>
            <a:r>
              <a:rPr lang="en-US" dirty="0"/>
              <a:t>Top 10 delayed routes based on average delay hours. </a:t>
            </a:r>
          </a:p>
          <a:p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9721B3-348A-879C-B1A7-7937BF32B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245" y="3548743"/>
            <a:ext cx="2950641" cy="21880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A663F1-E23F-6663-7465-5C6E994FC7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39" y="3548743"/>
            <a:ext cx="6267628" cy="174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450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AD643-FDBD-8DFB-17D9-119874CB2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1886"/>
            <a:ext cx="10515600" cy="5785077"/>
          </a:xfrm>
        </p:spPr>
        <p:txBody>
          <a:bodyPr/>
          <a:lstStyle/>
          <a:p>
            <a:r>
              <a:rPr lang="en-US" dirty="0"/>
              <a:t>Using SQL window functions to rank shipments by delay within each </a:t>
            </a:r>
            <a:r>
              <a:rPr lang="en-US" b="1" dirty="0" err="1"/>
              <a:t>Warehouse_ID</a:t>
            </a:r>
            <a:r>
              <a:rPr lang="en-US" b="1" dirty="0"/>
              <a:t> </a:t>
            </a:r>
            <a:r>
              <a:rPr lang="en-US" dirty="0"/>
              <a:t>as given below.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r>
              <a:rPr lang="en-US" dirty="0"/>
              <a:t>Identifying the average delay per </a:t>
            </a:r>
            <a:r>
              <a:rPr lang="en-US" b="1" dirty="0" err="1"/>
              <a:t>Delivery_Type</a:t>
            </a:r>
            <a:r>
              <a:rPr lang="en-US" b="1" dirty="0"/>
              <a:t> </a:t>
            </a:r>
            <a:r>
              <a:rPr lang="en-US" dirty="0"/>
              <a:t>(Express / Standard) to compare service-level efficiency as given below.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75CF38-23F0-0A49-5270-DE0B0D719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652" y="1942504"/>
            <a:ext cx="4533422" cy="17042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6295D6-04CD-1DDF-BFA8-C19FFF568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555" y="1507076"/>
            <a:ext cx="4533421" cy="264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331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88609E-7035-17A7-F684-CBE92E11C1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82" y="491529"/>
            <a:ext cx="9352303" cy="16965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720F1F-FA07-8080-EDC5-0CE0774555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953" y="2869222"/>
            <a:ext cx="4247726" cy="111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810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6A5CB-8F31-AD1B-2201-6FB28C8E6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3: Route Optimization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B240B-D832-6C1D-D340-304DF9CFC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Average transit time (in hours) across all shipments.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692FA9-888E-AD30-0722-AFFD2FF024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922" y="2383393"/>
            <a:ext cx="9803478" cy="10456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6B4D50-6773-DFE7-FAE7-283F614AB4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379" y="3563938"/>
            <a:ext cx="3424449" cy="220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8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E6225-8A5B-53E6-D4F9-070F7E04A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6571"/>
            <a:ext cx="10515600" cy="5850392"/>
          </a:xfrm>
        </p:spPr>
        <p:txBody>
          <a:bodyPr/>
          <a:lstStyle/>
          <a:p>
            <a:r>
              <a:rPr lang="en-US" dirty="0"/>
              <a:t>Average delay (in hours) per route.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Distance-to-time efficiency ratio = </a:t>
            </a:r>
            <a:r>
              <a:rPr lang="en-US" dirty="0" err="1"/>
              <a:t>Distance_KM</a:t>
            </a:r>
            <a:r>
              <a:rPr lang="en-US" dirty="0"/>
              <a:t> / </a:t>
            </a:r>
            <a:r>
              <a:rPr lang="en-US" dirty="0" err="1"/>
              <a:t>Avg_Transit_Time_Hours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A9981C-D88B-57A6-3989-325A55C279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59" y="985120"/>
            <a:ext cx="7240819" cy="13661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94B111-B3A0-B783-242B-1C943CA5CD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537" y="326571"/>
            <a:ext cx="2661087" cy="24852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D037C2-0C78-9475-E068-9E9E3A161D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06688"/>
            <a:ext cx="10222424" cy="146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700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F1A73F-9EB5-5567-949C-811582DFC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696" y="304800"/>
            <a:ext cx="8129789" cy="190440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263AEE-24CF-7ED8-538B-F44669974134}"/>
              </a:ext>
            </a:extLst>
          </p:cNvPr>
          <p:cNvSpPr txBox="1"/>
          <p:nvPr/>
        </p:nvSpPr>
        <p:spPr>
          <a:xfrm>
            <a:off x="751114" y="2394857"/>
            <a:ext cx="10145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Identifying 3 routes with the worst efficiency ratio (lowest distance-to-time) as given below.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3C17EE-49B7-3CF4-0DA8-E5BF72D626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696" y="2949843"/>
            <a:ext cx="8299387" cy="11439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6F3857-90FA-8B78-3460-EBFE817018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696" y="4442975"/>
            <a:ext cx="8523192" cy="114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429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EC42B-2084-554B-19D9-4C4533340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6291943"/>
          </a:xfrm>
        </p:spPr>
        <p:txBody>
          <a:bodyPr/>
          <a:lstStyle/>
          <a:p>
            <a:r>
              <a:rPr lang="en-US" sz="2400" dirty="0"/>
              <a:t>Recommending potential routes or hub pairs for optimization.</a:t>
            </a:r>
          </a:p>
          <a:p>
            <a:r>
              <a:rPr lang="en-US" sz="2400" b="1" dirty="0"/>
              <a:t>Hub Testing</a:t>
            </a:r>
            <a:r>
              <a:rPr lang="en-US" sz="2400" dirty="0"/>
              <a:t>: Conduct a deep-dive testing of the </a:t>
            </a:r>
            <a:r>
              <a:rPr lang="en-US" sz="2400" b="1" dirty="0"/>
              <a:t>Tokyo</a:t>
            </a:r>
            <a:r>
              <a:rPr lang="en-US" sz="2400" dirty="0"/>
              <a:t> and </a:t>
            </a:r>
            <a:r>
              <a:rPr lang="en-US" sz="2400" b="1" dirty="0"/>
              <a:t>Chicago</a:t>
            </a:r>
            <a:r>
              <a:rPr lang="en-US" sz="2400" dirty="0"/>
              <a:t> warehouses to identify if the bottlenecks are due to labor shortages, outdated sorting technology, or capacity constraints.</a:t>
            </a:r>
          </a:p>
          <a:p>
            <a:r>
              <a:rPr lang="en-US" sz="2400" b="1" dirty="0"/>
              <a:t>Route Rerouting</a:t>
            </a:r>
            <a:r>
              <a:rPr lang="en-US" sz="2400" dirty="0"/>
              <a:t>: For </a:t>
            </a:r>
            <a:r>
              <a:rPr lang="en-US" sz="2400" b="1" dirty="0"/>
              <a:t>Route R009</a:t>
            </a:r>
            <a:r>
              <a:rPr lang="en-US" sz="2400" dirty="0"/>
              <a:t>, consider temporary rerouting through a high-performing secondary hub (e.g., Amsterdam or Memphis) until the primary cause of the 0% reliability is resolved.</a:t>
            </a:r>
          </a:p>
          <a:p>
            <a:r>
              <a:rPr lang="en-US" sz="2400" b="1" dirty="0"/>
              <a:t>Agent Reassignment</a:t>
            </a:r>
            <a:r>
              <a:rPr lang="en-US" sz="2400" dirty="0"/>
              <a:t>: Cross-reference these routes with the "Low Performance Agents" list. High-volume, low-performance routes should be prioritized for assignment to senior or higher-rated delivery agents.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7184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16279-C753-9B5D-E20B-C518773D0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4: Warehouse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CA6ED-D783-AD3E-0F99-EEA3EDF60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Finding the top 3 warehouses with the highest average delay in shipments dispatched as given below.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Calculating total shipments vs delayed shipments for each warehouse given below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451170-2067-BF92-E306-98A076BC7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43" y="3026228"/>
            <a:ext cx="6999514" cy="14940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FEB35E-3F82-B036-DB31-13731DEBC6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4666" y="3193470"/>
            <a:ext cx="3839134" cy="9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876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59748-FBCC-60FF-6FEA-42259BD8D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7" y="293914"/>
            <a:ext cx="11223172" cy="6237515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0D5350-263D-4BA7-EF6A-B1FED2EDA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71" y="381000"/>
            <a:ext cx="11223172" cy="15784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96E542-FF97-29B5-AB64-EEC81D0BD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238" y="2634342"/>
            <a:ext cx="6908064" cy="255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001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4B6F0-93B3-22DA-7C73-18D24F744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272143"/>
            <a:ext cx="11658600" cy="6313714"/>
          </a:xfrm>
        </p:spPr>
        <p:txBody>
          <a:bodyPr/>
          <a:lstStyle/>
          <a:p>
            <a:r>
              <a:rPr lang="en-US" dirty="0"/>
              <a:t>Ranking all warehouses based on on-time delivery percentage as given below.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50E28F-B837-83B1-D1A2-C60D29B23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43" y="974201"/>
            <a:ext cx="11642275" cy="20737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3DBE78-74BA-EA37-B275-EF866266EA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686" y="3429000"/>
            <a:ext cx="7686098" cy="271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745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2736B-A809-7CFE-8283-D8580AB7F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5: Delivery Agent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44D36-F54E-60B3-5891-0F06B32E1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Ranking delivery agents (per route) by on-time delivery percentage.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4A60AE-FC82-5E4D-D4BD-C3F6801B0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885" y="2427514"/>
            <a:ext cx="9303324" cy="309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199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1EB9FC-5502-8174-6E9E-B14633EB93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30" y="261257"/>
            <a:ext cx="7347856" cy="316774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61EBF8-6A6D-B0E4-7889-9AE051B8AA9A}"/>
              </a:ext>
            </a:extLst>
          </p:cNvPr>
          <p:cNvSpPr txBox="1"/>
          <p:nvPr/>
        </p:nvSpPr>
        <p:spPr>
          <a:xfrm>
            <a:off x="609600" y="3777343"/>
            <a:ext cx="1095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Finding agents whose on-time % is below 85% as given below.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956AA1-9B09-DBBF-E5D0-ACA82AF34D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38" y="4313541"/>
            <a:ext cx="10105524" cy="204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85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E0736-5890-F113-DABC-093383781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9" y="304800"/>
            <a:ext cx="11364685" cy="6193971"/>
          </a:xfrm>
        </p:spPr>
        <p:txBody>
          <a:bodyPr/>
          <a:lstStyle/>
          <a:p>
            <a:r>
              <a:rPr lang="en-US" dirty="0"/>
              <a:t>Comparing the average rating and experience (in years) of the top 5 vs bottom 5 agents using subqueries.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32CC8-081B-3DFF-2026-9C82CCB9A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030" y="3860744"/>
            <a:ext cx="5167247" cy="7161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80E0FE-90F2-1E19-B450-B4B7051F2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6" y="1458686"/>
            <a:ext cx="9198428" cy="468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315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F1A64B-A846-6659-1C56-66E26914A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487" y="196919"/>
            <a:ext cx="5423216" cy="85899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EBEC8D-553C-BD44-F3DC-DF8A8B69BCED}"/>
              </a:ext>
            </a:extLst>
          </p:cNvPr>
          <p:cNvSpPr txBox="1"/>
          <p:nvPr/>
        </p:nvSpPr>
        <p:spPr>
          <a:xfrm>
            <a:off x="130629" y="1262742"/>
            <a:ext cx="11887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/>
              <a:t>Workload balancing strategies for low-performing agents based on insights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1. Strategic Focus: Process Over People</a:t>
            </a:r>
          </a:p>
          <a:p>
            <a:r>
              <a:rPr lang="en-US" dirty="0"/>
              <a:t>Since more experience doesn't lead to faster deliveries and workload isn't the issue, traditional training and load balancing will fail.</a:t>
            </a:r>
          </a:p>
          <a:p>
            <a:r>
              <a:rPr lang="en-US" b="1" dirty="0"/>
              <a:t>Strategy:</a:t>
            </a:r>
            <a:r>
              <a:rPr lang="en-US" dirty="0"/>
              <a:t> Shift focus from "fixing agents" to "fixing the pipeline." The universal delays suggest agents are likely receiving packages late from the warehouse.</a:t>
            </a:r>
          </a:p>
          <a:p>
            <a:endParaRPr lang="en-US" dirty="0"/>
          </a:p>
          <a:p>
            <a:r>
              <a:rPr lang="en-US" b="1" dirty="0"/>
              <a:t>2. Re-Evaluate "Seniority" Assignments</a:t>
            </a:r>
          </a:p>
          <a:p>
            <a:r>
              <a:rPr lang="en-US" dirty="0"/>
              <a:t>The data suggests that most experienced agents (who are currently your slowest) might be assigned the most complex or "impossible" routes (like </a:t>
            </a:r>
            <a:r>
              <a:rPr lang="en-US" b="1" dirty="0"/>
              <a:t>R002</a:t>
            </a:r>
            <a:r>
              <a:rPr lang="en-US" dirty="0"/>
              <a:t> or </a:t>
            </a:r>
            <a:r>
              <a:rPr lang="en-US" b="1" dirty="0"/>
              <a:t>R004</a:t>
            </a:r>
            <a:r>
              <a:rPr lang="en-US" dirty="0"/>
              <a:t> identified earlier).</a:t>
            </a:r>
          </a:p>
          <a:p>
            <a:r>
              <a:rPr lang="en-US" b="1" dirty="0"/>
              <a:t>Strategy:</a:t>
            </a:r>
            <a:r>
              <a:rPr lang="en-US" dirty="0"/>
              <a:t> Rotate routes. Do not penalize senior agents for delays if they are permanently assigned to historically bottlenecked routes.</a:t>
            </a:r>
          </a:p>
          <a:p>
            <a:r>
              <a:rPr lang="en-US" dirty="0"/>
              <a:t>.</a:t>
            </a:r>
          </a:p>
          <a:p>
            <a:r>
              <a:rPr lang="en-US" b="1" dirty="0"/>
              <a:t>3. Technology Enablement vs. Skills Training</a:t>
            </a:r>
          </a:p>
          <a:p>
            <a:r>
              <a:rPr lang="en-US" dirty="0"/>
              <a:t>Since years of experience don't improve speed, the barrier is likely navigational or operational.</a:t>
            </a:r>
          </a:p>
          <a:p>
            <a:r>
              <a:rPr lang="en-US" b="1" dirty="0"/>
              <a:t>Strategy:</a:t>
            </a:r>
            <a:r>
              <a:rPr lang="en-US" dirty="0"/>
              <a:t> Instead of generic "delivery skills" training, implement </a:t>
            </a:r>
            <a:r>
              <a:rPr lang="en-US" b="1" dirty="0"/>
              <a:t>Dynamic Route Optimization</a:t>
            </a:r>
            <a:r>
              <a:rPr lang="en-US" dirty="0"/>
              <a:t> software.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217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CE278-C527-AE45-D627-81E29A80F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6: Shipment Tracking Analytics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07425-1411-EBDE-B55D-7314C778C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114"/>
            <a:ext cx="10515600" cy="4663849"/>
          </a:xfrm>
        </p:spPr>
        <p:txBody>
          <a:bodyPr/>
          <a:lstStyle/>
          <a:p>
            <a:r>
              <a:rPr lang="en-US" dirty="0"/>
              <a:t>For each shipment, displaying the latest status (Delivered, In Transit, or Returned) along with the latest </a:t>
            </a:r>
            <a:r>
              <a:rPr lang="en-US" b="1" dirty="0" err="1"/>
              <a:t>Delivery_Date</a:t>
            </a:r>
            <a:r>
              <a:rPr lang="en-US" b="1" dirty="0"/>
              <a:t>. 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41B84E-4173-3597-D1C4-6500CC8C4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4" y="3429000"/>
            <a:ext cx="6640723" cy="16526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B220A1-6E66-6A1D-9C8F-0213CE53FD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888" y="2700388"/>
            <a:ext cx="4383798" cy="320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053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5658E-C74B-D7ED-66C8-FB5F8DD21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457" y="277586"/>
            <a:ext cx="11538857" cy="6302828"/>
          </a:xfrm>
        </p:spPr>
        <p:txBody>
          <a:bodyPr/>
          <a:lstStyle/>
          <a:p>
            <a:r>
              <a:rPr lang="en-US" dirty="0"/>
              <a:t>Finding the most frequent delay reasons (if available in delay-related columns or flags).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288420-253C-4287-8FE9-6480FC8D5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59" y="1295885"/>
            <a:ext cx="10661173" cy="17521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03FD75-8372-DEC5-9D49-F2EE24A817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416" y="3570513"/>
            <a:ext cx="5202177" cy="164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65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83396-8A3B-EA0B-9A16-40ACB4FCC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707572"/>
            <a:ext cx="11604171" cy="6063342"/>
          </a:xfrm>
        </p:spPr>
        <p:txBody>
          <a:bodyPr/>
          <a:lstStyle/>
          <a:p>
            <a:r>
              <a:rPr lang="en-US" dirty="0"/>
              <a:t>Identifying orders with exceptionally high delay (&gt;120 hours) to investigate potential bottlenecks as given below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DC7962-B2E7-1570-C643-C3C1EC78E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710" y="1724803"/>
            <a:ext cx="10298580" cy="12034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AF10C8-B731-6F5B-11D0-B65CEA3639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916" y="3215549"/>
            <a:ext cx="7454168" cy="293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948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446A-8D19-9ACC-3C42-18C9A92B4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7: Advanced KPI Reporting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BA18A-6ED3-4B6D-23C8-8364BDA98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0457"/>
            <a:ext cx="10515600" cy="4696506"/>
          </a:xfrm>
        </p:spPr>
        <p:txBody>
          <a:bodyPr/>
          <a:lstStyle/>
          <a:p>
            <a:r>
              <a:rPr lang="en-US" dirty="0"/>
              <a:t>Average Delivery Delay per </a:t>
            </a:r>
            <a:r>
              <a:rPr lang="en-US" b="1" dirty="0" err="1"/>
              <a:t>Source_Country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F43B2D-673B-DFD1-0F5E-A452FBCBB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39" y="2270239"/>
            <a:ext cx="10563361" cy="1415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55B043-20E4-7E49-4113-10E3E09E75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285" y="3828710"/>
            <a:ext cx="4931229" cy="249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512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D4FD0-8371-5F89-C369-26DAE11FB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57" y="228600"/>
            <a:ext cx="11310257" cy="6313714"/>
          </a:xfrm>
        </p:spPr>
        <p:txBody>
          <a:bodyPr/>
          <a:lstStyle/>
          <a:p>
            <a:r>
              <a:rPr lang="en-US" dirty="0"/>
              <a:t>On-Time Delivery % = (Total On-Time Deliveries / Total Deliveries) * 100.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Average Delay (in hours) per </a:t>
            </a:r>
            <a:r>
              <a:rPr lang="en-US" b="1" dirty="0" err="1"/>
              <a:t>Route_ID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5E6B8D-22FF-D1DC-E1D7-27ED6193B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86" y="855045"/>
            <a:ext cx="10874827" cy="897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D72E24-A79A-96EF-0BDC-6EA66EC3D8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437" y="1994771"/>
            <a:ext cx="6326812" cy="768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2164FC-A2FF-0A37-9D8D-479A1A2C4F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86" y="3863843"/>
            <a:ext cx="10689771" cy="10673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1C73C0-E000-B611-FA02-F62C5626DB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530" y="4397536"/>
            <a:ext cx="4194383" cy="211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684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177D0-086E-615D-AC7A-9E240F206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57" y="337457"/>
            <a:ext cx="11364686" cy="6106886"/>
          </a:xfrm>
        </p:spPr>
        <p:txBody>
          <a:bodyPr/>
          <a:lstStyle/>
          <a:p>
            <a:r>
              <a:rPr lang="en-US" dirty="0"/>
              <a:t>Warehouse Utilization % = (</a:t>
            </a:r>
            <a:r>
              <a:rPr lang="en-US" b="1" dirty="0" err="1"/>
              <a:t>Shipments_Handled</a:t>
            </a:r>
            <a:r>
              <a:rPr lang="en-US" b="1" dirty="0"/>
              <a:t> / </a:t>
            </a:r>
            <a:r>
              <a:rPr lang="en-US" b="1" dirty="0" err="1"/>
              <a:t>Capacity_per_day</a:t>
            </a:r>
            <a:r>
              <a:rPr lang="en-US" dirty="0"/>
              <a:t>) * 100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2E775A-84B4-59CC-95B3-B166C16CE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94" y="830355"/>
            <a:ext cx="10772892" cy="25986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41CC0C-6411-D752-23CD-7566999EF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433" y="3788229"/>
            <a:ext cx="6637303" cy="243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6749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3E181-5B95-93D9-43DC-58AB1C096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6" y="195943"/>
            <a:ext cx="11800114" cy="6466114"/>
          </a:xfrm>
        </p:spPr>
        <p:txBody>
          <a:bodyPr>
            <a:normAutofit/>
          </a:bodyPr>
          <a:lstStyle/>
          <a:p>
            <a:r>
              <a:rPr lang="en-US" sz="2200" b="1" dirty="0"/>
              <a:t>Key Operational Insights in FedEx</a:t>
            </a:r>
          </a:p>
          <a:p>
            <a:r>
              <a:rPr lang="en-US" sz="2200" b="1" dirty="0"/>
              <a:t>1. Hub &amp; Warehouse Bottlenecks:-</a:t>
            </a:r>
          </a:p>
          <a:p>
            <a:r>
              <a:rPr lang="en-US" sz="2200" b="1" dirty="0"/>
              <a:t>Critical Failure Points</a:t>
            </a:r>
            <a:r>
              <a:rPr lang="en-US" sz="2200" dirty="0"/>
              <a:t>: </a:t>
            </a:r>
            <a:r>
              <a:rPr lang="en-US" sz="2200" b="1" dirty="0"/>
              <a:t>Tokyo (W007)</a:t>
            </a:r>
            <a:r>
              <a:rPr lang="en-US" sz="2200" dirty="0"/>
              <a:t> and </a:t>
            </a:r>
            <a:r>
              <a:rPr lang="en-US" sz="2200" b="1" dirty="0"/>
              <a:t>Chicago (W006)</a:t>
            </a:r>
            <a:r>
              <a:rPr lang="en-US" sz="2200" dirty="0"/>
              <a:t> are the primary bottlenecks. Tokyo’s </a:t>
            </a:r>
            <a:r>
              <a:rPr lang="en-US" sz="2200" b="1" dirty="0"/>
              <a:t>2.08% OTD rate</a:t>
            </a:r>
            <a:r>
              <a:rPr lang="en-US" sz="2200" dirty="0"/>
              <a:t> suggests a systemic failure in either customs processing or local sorting capacity.</a:t>
            </a:r>
          </a:p>
          <a:p>
            <a:r>
              <a:rPr lang="en-US" sz="2200" b="1" dirty="0"/>
              <a:t>High-Volume Stress</a:t>
            </a:r>
            <a:r>
              <a:rPr lang="en-US" sz="2200" dirty="0"/>
              <a:t>: Major hubs like </a:t>
            </a:r>
            <a:r>
              <a:rPr lang="en-US" sz="2200" b="1" dirty="0"/>
              <a:t>London</a:t>
            </a:r>
            <a:r>
              <a:rPr lang="en-US" sz="2200" dirty="0"/>
              <a:t> and </a:t>
            </a:r>
            <a:r>
              <a:rPr lang="en-US" sz="2200" b="1" dirty="0"/>
              <a:t>Singapore</a:t>
            </a:r>
            <a:r>
              <a:rPr lang="en-US" sz="2200" dirty="0"/>
              <a:t> are also struggling (under 7% OTD), indicating that high-volume processing is currently exceeding operational capacity.</a:t>
            </a:r>
          </a:p>
          <a:p>
            <a:r>
              <a:rPr lang="en-US" sz="2200" b="1" dirty="0"/>
              <a:t>2. High-Risk Route Pairs:-</a:t>
            </a:r>
          </a:p>
          <a:p>
            <a:r>
              <a:rPr lang="en-US" sz="2200" b="1" dirty="0"/>
              <a:t>Total Reliability Failure</a:t>
            </a:r>
            <a:r>
              <a:rPr lang="en-US" sz="2200" dirty="0"/>
              <a:t>: </a:t>
            </a:r>
            <a:r>
              <a:rPr lang="en-US" sz="2200" b="1" dirty="0"/>
              <a:t>Route R009</a:t>
            </a:r>
            <a:r>
              <a:rPr lang="en-US" sz="2200" dirty="0"/>
              <a:t> is currently operating at </a:t>
            </a:r>
            <a:r>
              <a:rPr lang="en-US" sz="2200" b="1" dirty="0"/>
              <a:t>0% on-time efficiency</a:t>
            </a:r>
            <a:r>
              <a:rPr lang="en-US" sz="2200" dirty="0"/>
              <a:t>. Any shipments assigned to this route are guaranteed to be delayed, representing a major risk to customer satisfaction.</a:t>
            </a:r>
          </a:p>
          <a:p>
            <a:r>
              <a:rPr lang="en-US" sz="2200" b="1" dirty="0"/>
              <a:t>Strategic Bottlenecks</a:t>
            </a:r>
            <a:r>
              <a:rPr lang="en-US" sz="2200" dirty="0"/>
              <a:t>: </a:t>
            </a:r>
            <a:r>
              <a:rPr lang="en-US" sz="2200" b="1" dirty="0"/>
              <a:t>Route R018</a:t>
            </a:r>
            <a:r>
              <a:rPr lang="en-US" sz="2200" dirty="0"/>
              <a:t> (high volume, 2.94% OTD) is a "critical path" that handles a large portion of the network's load but fails consistently.</a:t>
            </a:r>
          </a:p>
          <a:p>
            <a:r>
              <a:rPr lang="en-US" sz="2200" b="1" dirty="0"/>
              <a:t>3. Extreme Delays (&gt;120 Hours):-</a:t>
            </a:r>
          </a:p>
          <a:p>
            <a:r>
              <a:rPr lang="en-US" sz="2200" dirty="0"/>
              <a:t>A significant portion of delays exceed the 5-day mark, which typically points to </a:t>
            </a:r>
            <a:r>
              <a:rPr lang="en-US" sz="2200" b="1" dirty="0"/>
              <a:t>regulatory/customs holds</a:t>
            </a:r>
            <a:r>
              <a:rPr lang="en-US" sz="2200" dirty="0"/>
              <a:t> or </a:t>
            </a:r>
            <a:r>
              <a:rPr lang="en-US" sz="2200" b="1" dirty="0"/>
              <a:t>shipment misrouting</a:t>
            </a:r>
            <a:r>
              <a:rPr lang="en-US" sz="2200" dirty="0"/>
              <a:t> rather than simple transit slowness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4091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E1541-B8E8-DF1A-314D-9A033D211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171" y="130629"/>
            <a:ext cx="11767457" cy="6394677"/>
          </a:xfrm>
        </p:spPr>
        <p:txBody>
          <a:bodyPr/>
          <a:lstStyle/>
          <a:p>
            <a:r>
              <a:rPr lang="en-US" sz="2400" b="1" dirty="0"/>
              <a:t>Strategic Business Recommendations for FedEx</a:t>
            </a:r>
          </a:p>
          <a:p>
            <a:r>
              <a:rPr lang="en-US" sz="2400" b="1" dirty="0"/>
              <a:t>Reroute Priority Freight</a:t>
            </a:r>
            <a:r>
              <a:rPr lang="en-US" sz="2400" dirty="0"/>
              <a:t>: Immediately divert high-priority shipments away from </a:t>
            </a:r>
            <a:r>
              <a:rPr lang="en-US" sz="2400" b="1" dirty="0"/>
              <a:t>Route R009</a:t>
            </a:r>
            <a:r>
              <a:rPr lang="en-US" sz="2400" dirty="0"/>
              <a:t> and </a:t>
            </a:r>
            <a:r>
              <a:rPr lang="en-US" sz="2400" b="1" dirty="0"/>
              <a:t>R012</a:t>
            </a:r>
            <a:r>
              <a:rPr lang="en-US" sz="2400" dirty="0"/>
              <a:t>. Use high-performing alternate hubs (e.g., Memphis or Amsterdam) even if it increases mileage, to restore reliability.</a:t>
            </a:r>
          </a:p>
          <a:p>
            <a:r>
              <a:rPr lang="en-US" sz="2400" b="1" dirty="0"/>
              <a:t>Tokyo Process</a:t>
            </a:r>
            <a:r>
              <a:rPr lang="en-US" sz="2400" dirty="0"/>
              <a:t>: Deploy a rapid-response team to the </a:t>
            </a:r>
            <a:r>
              <a:rPr lang="en-US" sz="2400" b="1" dirty="0"/>
              <a:t>Tokyo (W007)</a:t>
            </a:r>
            <a:r>
              <a:rPr lang="en-US" sz="2400" dirty="0"/>
              <a:t> hub to identify if the 2.08% OTD is caused by staffing shortages, equipment failure, or a specific customs documentation bottleneck.</a:t>
            </a:r>
          </a:p>
          <a:p>
            <a:r>
              <a:rPr lang="en-US" sz="2400" b="1" dirty="0"/>
              <a:t>Update Customer SLAs</a:t>
            </a:r>
            <a:r>
              <a:rPr lang="en-US" sz="2400" dirty="0"/>
              <a:t>: Temporarily adjust "Expected Delivery Dates" for routes originating from or passing through Tokyo and Chicago to reflect the current 120+ hour delay reality.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9680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1036</Words>
  <Application>Microsoft Office PowerPoint</Application>
  <PresentationFormat>Widescreen</PresentationFormat>
  <Paragraphs>99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Bahnschrift Light</vt:lpstr>
      <vt:lpstr>Calibri</vt:lpstr>
      <vt:lpstr>Calibri Light</vt:lpstr>
      <vt:lpstr>Office Theme</vt:lpstr>
      <vt:lpstr>Task 1: Data Cleaning &amp; Preparation</vt:lpstr>
      <vt:lpstr>PowerPoint Presentation</vt:lpstr>
      <vt:lpstr>Task 2: Delivery Delay Analysis</vt:lpstr>
      <vt:lpstr>PowerPoint Presentation</vt:lpstr>
      <vt:lpstr>PowerPoint Presentation</vt:lpstr>
      <vt:lpstr>Task 3: Route Optimization Insights</vt:lpstr>
      <vt:lpstr>PowerPoint Presentation</vt:lpstr>
      <vt:lpstr>PowerPoint Presentation</vt:lpstr>
      <vt:lpstr>PowerPoint Presentation</vt:lpstr>
      <vt:lpstr>Task 4: Warehouse Performance</vt:lpstr>
      <vt:lpstr>PowerPoint Presentation</vt:lpstr>
      <vt:lpstr>PowerPoint Presentation</vt:lpstr>
      <vt:lpstr>Task 5: Delivery Agent Performance</vt:lpstr>
      <vt:lpstr>PowerPoint Presentation</vt:lpstr>
      <vt:lpstr>PowerPoint Presentation</vt:lpstr>
      <vt:lpstr>PowerPoint Presentation</vt:lpstr>
      <vt:lpstr>Task 6: Shipment Tracking Analytics</vt:lpstr>
      <vt:lpstr>PowerPoint Presentation</vt:lpstr>
      <vt:lpstr>PowerPoint Presentation</vt:lpstr>
      <vt:lpstr>Task 7: Advanced KPI Reporting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- KRSNA -</dc:creator>
  <cp:lastModifiedBy>- KRSNA -</cp:lastModifiedBy>
  <cp:revision>4</cp:revision>
  <dcterms:created xsi:type="dcterms:W3CDTF">2026-01-19T18:53:09Z</dcterms:created>
  <dcterms:modified xsi:type="dcterms:W3CDTF">2026-01-21T18:47:42Z</dcterms:modified>
</cp:coreProperties>
</file>